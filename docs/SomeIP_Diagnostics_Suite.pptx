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11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ol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685800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640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0D8FF"/>
                </a:solidFill>
                <a:latin typeface="Segoe UI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9144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6E6E6"/>
                </a:solidFill>
                <a:latin typeface="Segoe UI"/>
              </a:rPr>
              <a:t>SOME/IP</a:t>
            </a:r>
          </a:p>
          <a:p>
            <a:pPr algn="l"/>
            <a:r>
              <a:rPr sz="3600" b="1">
                <a:solidFill>
                  <a:srgbClr val="E6E6E6"/>
                </a:solidFill>
                <a:latin typeface="Segoe UI"/>
              </a:rPr>
              <a:t>Diagnostics</a:t>
            </a:r>
          </a:p>
          <a:p>
            <a:pPr algn="l"/>
            <a:r>
              <a:rPr sz="3600" b="1">
                <a:solidFill>
                  <a:srgbClr val="E6E6E6"/>
                </a:solidFill>
                <a:latin typeface="Segoe UI"/>
              </a:rPr>
              <a:t>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926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0D8FF"/>
                </a:solidFill>
                <a:latin typeface="Segoe UI"/>
              </a:rPr>
              <a:t>Standalone in-vehicle Ethernet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38328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  <a:latin typeface="Segoe UI"/>
              </a:rPr>
              <a:t>A single Windows executable that turns a packet</a:t>
            </a:r>
          </a:p>
          <a:p>
            <a:pPr algn="l"/>
            <a:r>
              <a:rPr sz="1100" b="0">
                <a:solidFill>
                  <a:srgbClr val="9E9E9E"/>
                </a:solidFill>
                <a:latin typeface="Segoe UI"/>
              </a:rPr>
              <a:t>capture into an actionable AUTOSAR / DoIP report —</a:t>
            </a:r>
          </a:p>
          <a:p>
            <a:pPr algn="l"/>
            <a:r>
              <a:rPr sz="1100" b="0">
                <a:solidFill>
                  <a:srgbClr val="9E9E9E"/>
                </a:solidFill>
                <a:latin typeface="Segoe UI"/>
              </a:rPr>
              <a:t>ready for engineers, QA, CI and shareable artefacts.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120640"/>
            <a:ext cx="1234440" cy="868680"/>
          </a:xfrm>
          <a:prstGeom prst="roundRect">
            <a:avLst>
              <a:gd name="adj" fmla="val 18000"/>
            </a:avLst>
          </a:prstGeom>
          <a:solidFill>
            <a:srgbClr val="1A1A1F"/>
          </a:solidFill>
          <a:ln w="1270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52303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80D8FF"/>
                </a:solidFill>
                <a:latin typeface="Segoe UI"/>
              </a:rPr>
              <a:t>BINARY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548640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6E6E6"/>
                </a:solidFill>
                <a:latin typeface="Segoe UI"/>
              </a:rPr>
              <a:t>SomeIPDiagnosticsSuite.exe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5120640"/>
            <a:ext cx="1234440" cy="868680"/>
          </a:xfrm>
          <a:prstGeom prst="roundRect">
            <a:avLst>
              <a:gd name="adj" fmla="val 18000"/>
            </a:avLst>
          </a:prstGeom>
          <a:solidFill>
            <a:srgbClr val="1A1A1F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52303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D180"/>
                </a:solidFill>
                <a:latin typeface="Segoe UI"/>
              </a:rPr>
              <a:t>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548640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6E6E6"/>
                </a:solidFill>
                <a:latin typeface="Segoe UI"/>
              </a:rPr>
              <a:t>v2 (2026)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5120640"/>
            <a:ext cx="1234440" cy="868680"/>
          </a:xfrm>
          <a:prstGeom prst="roundRect">
            <a:avLst>
              <a:gd name="adj" fmla="val 18000"/>
            </a:avLst>
          </a:prstGeom>
          <a:solidFill>
            <a:srgbClr val="1A1A1F"/>
          </a:solidFill>
          <a:ln w="1270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52303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A5D6A7"/>
                </a:solidFill>
                <a:latin typeface="Segoe UI"/>
              </a:rPr>
              <a:t>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548640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6E6E6"/>
                </a:solidFill>
                <a:latin typeface="Segoe UI"/>
              </a:rPr>
              <a:t>AUTOSAR PRS R21-11 · ISO 13400-2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62636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Presented to: Engineering, QA &amp; CI 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492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What we will cover in the next ~20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836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Why diagnosing SOME/IP &amp; DoIP today is painful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2316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328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780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What SomeIPDiagnosticsSuite.exe delivers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1752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27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723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Seven tabs, two CLI sub-commands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667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End-to-end data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0624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315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611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GUI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Capture, SD Analyzer, DoIP Analyzer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82880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1938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8836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CLI &amp; 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From engineer's laptop to the build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42316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25328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4780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Test data &amp;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Reproducible verification on every machine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301752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127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0723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Outcomes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What changes for the team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611880"/>
            <a:ext cx="5486400" cy="502920"/>
          </a:xfrm>
          <a:prstGeom prst="roundRect">
            <a:avLst>
              <a:gd name="adj" fmla="val 1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6667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6E6"/>
                </a:solidFill>
                <a:latin typeface="Segoe UI"/>
              </a:rPr>
              <a:t>Roadmap &amp; Q&amp;A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Where we go 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Diagnosing SOME/IP-SD and DoIP today is slow, manual and expensive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blem-solution-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28800"/>
            <a:ext cx="6766560" cy="28419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8288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9A9A"/>
                </a:solidFill>
                <a:latin typeface="Segoe UI"/>
              </a:rPr>
              <a:t>Pain points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Wireshark dissectors decode frames but cannot validate AUTOSAR-SD start-up timing.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Subtle boot-time drift (~ hundreds of ms) silently blocks service discovery.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DoIP / UDS sessions span thousands of frames — NRCs and retransmits drown in noise.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Commercial benches are licence-locked and impossible to put on every laptop or CI runner.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No standard, shareable artefact for “is the bus healthy?”.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A single, license-free executable — GUI for engineers, CLI for CI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Single Windows executable (~12 MB) — no installer, no Python, no DLLs.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Native SOME/IP, SOME/IP-SD and DoIP decoders + TCP reassembler.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AUTOSAR PRS R21-11 timing audit with offending frame numbers.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ISO 13400-2:2019 state-machine for routing, alive-check, UDS, NRCs.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Self-contained HTML report + compact JSON summary.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CI exit code 2 in --strict mode — ready to fail the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D180"/>
                </a:solidFill>
                <a:latin typeface="Segoe UI"/>
              </a:rPr>
              <a:t>How it 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5486400" cy="64008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134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Double-click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94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Consolas"/>
              </a:rPr>
              <a:t>SomeIPDiagnosticsSuite.exe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441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→ launches the GUI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71800"/>
            <a:ext cx="5486400" cy="64008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Capture 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009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Consolas"/>
              </a:rPr>
              <a:t>...exe info &lt;pcap&gt;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1729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→ one-line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03320"/>
            <a:ext cx="5486400" cy="64008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Full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32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Consolas"/>
              </a:rPr>
              <a:t>...exe analyze &lt;pcap&gt;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904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→ HTML + JSON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486400" cy="64008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079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CI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64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Consolas"/>
              </a:rPr>
              <a:t>...exe analyze ... --strict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636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E9E9E"/>
                </a:solidFill>
                <a:latin typeface="Segoe UI"/>
              </a:rPr>
              <a:t>→ exit 2 on violation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Capabilities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Seven GUI tabs + two CLI sub-commands cover the full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1417320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0D8FF"/>
                </a:solidFill>
                <a:latin typeface="Segoe U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Load .pcap / live NIC; layered decode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2880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828800"/>
            <a:ext cx="91440" cy="1417320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0D8FF"/>
                </a:solidFill>
                <a:latin typeface="Segoe UI"/>
              </a:rPr>
              <a:t>SD 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3774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AUTOSAR PRS R21-11 timing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8504" y="1828800"/>
            <a:ext cx="91440" cy="1417320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0D8FF"/>
                </a:solidFill>
                <a:latin typeface="Segoe UI"/>
              </a:rPr>
              <a:t>DoIP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3774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ISO 13400-2 session reconstruction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182880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6296" y="1828800"/>
            <a:ext cx="91440" cy="1417320"/>
          </a:xfrm>
          <a:prstGeom prst="rect">
            <a:avLst/>
          </a:prstGeom>
          <a:solidFill>
            <a:srgbClr val="FFD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D180"/>
                </a:solidFill>
                <a:latin typeface="Segoe UI"/>
              </a:rPr>
              <a:t>Filter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37744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O(1) hash-lookup rule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10712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10712"/>
            <a:ext cx="91440" cy="1417320"/>
          </a:xfrm>
          <a:prstGeom prst="rect">
            <a:avLst/>
          </a:prstGeom>
          <a:solidFill>
            <a:srgbClr val="FFD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D180"/>
                </a:solidFill>
                <a:latin typeface="Segoe UI"/>
              </a:rPr>
              <a:t>SD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5935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Deterministic SOME/IP-SD simulator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3410712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10712" y="3410712"/>
            <a:ext cx="91440" cy="1417320"/>
          </a:xfrm>
          <a:prstGeom prst="rect">
            <a:avLst/>
          </a:prstGeom>
          <a:solidFill>
            <a:srgbClr val="FFD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5478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D180"/>
                </a:solidFill>
                <a:latin typeface="Segoe UI"/>
              </a:rPr>
              <a:t>DoIP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395935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Deterministic DoIP simulator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18504" y="3410712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1131A"/>
          </a:solidFill>
          <a:ln w="1397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8504" y="3410712"/>
            <a:ext cx="91440" cy="1417320"/>
          </a:xfrm>
          <a:prstGeom prst="rect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35478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5D6A7"/>
                </a:solidFill>
                <a:latin typeface="Segoe UI"/>
              </a:rP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395935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KPIs · throughput ·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038344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A1A1F"/>
          </a:solidFill>
          <a:ln w="1270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148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0D8FF"/>
                </a:solidFill>
                <a:latin typeface="Segoe UI"/>
              </a:rPr>
              <a:t>CLI sub-commands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223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SomeIPDiagnosticsSuite.exe  info  &lt;capture&gt;     ·     analyze &lt;capture&gt; [--report HTML] [--json JSON] [--strict]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Architecture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Capture → Decoder → Analysers → Report — strictly left-to-right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5349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98932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E9E9E"/>
                </a:solidFill>
                <a:latin typeface="Segoe UI"/>
              </a:rPr>
              <a:t>Decoder &amp; analysers share immutable message objects → GUI never freezes, even on multi-million-frame captures.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SD Analyzer — AUTOSAR PRS R21-11 timing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Recovers boot-up timing from the trace and flags every violation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i-sd-analy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852160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What it computes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INITIAL_DELAY recovered from first SD packet per ECU.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REPETITIONS_BASE_DELAY measured across the repetition phase.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CYCLIC_OFFER_DELAY measured across sustained offers.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Per-ECU × service KPI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9A9A"/>
                </a:solidFill>
                <a:latin typeface="Segoe UI"/>
              </a:rPr>
              <a:t>Violations 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Initial-delay outside the AUTOSAR window.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Missing exponential back-off in the repetition phase.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9A9A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Cyclic-offer drift beyond tolerance — with exact frame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DoIP Analyzer — ISO 13400-2:2019 session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Walks the full state machine; surfaces NRCs, retransmits, reconnects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i-doip-analy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852160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State machine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RoutingActivation outcome + latency (port 13400).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AliveCheck request / response pairing.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DiagnosticMessage / Ack / Positive / Negative responses.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Reconnect detection on the same logical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D180"/>
                </a:solidFill>
                <a:latin typeface="Segoe UI"/>
              </a:rPr>
              <a:t>Per-session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UDS exchange count · NRC count · retransmits.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Average / max RTT per session.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200">
                <a:solidFill>
                  <a:srgbClr val="E6E6E6"/>
                </a:solidFill>
                <a:latin typeface="Segoe UI"/>
              </a:rPr>
              <a:t>Colour-coded UDS table: red = NRC, yellow = retransmit.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GUI · Capture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Open .pcap / .pcapng, browse decoded packets, drill into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i-captur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7863840" cy="4718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7830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0D8FF"/>
                </a:solidFill>
                <a:latin typeface="Segoe UI"/>
              </a:rPr>
              <a:t>Key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14884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Ctrl + O — open a capture file.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Live capture via Npcap / AF_PACKET.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Click a row → layered decode + hex.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Status bar shows decoded 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709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9A9A"/>
                </a:solidFill>
                <a:latin typeface="Segoe UI"/>
              </a:rPr>
              <a:t>Highlighted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The red row is the misbehaving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ECU 10.0.0.99 / service 0x9999 —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the headline finding flagged by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the SD analyser.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Command-Line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Same binary, scripted from terminals &amp; CI runners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i-analy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94360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0D8FF"/>
                </a:solidFill>
                <a:latin typeface="Segoe UI"/>
              </a:rPr>
              <a:t>Sub-commands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24028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33172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SomeIPDiagnosticsSuite.exe info    &lt;capture&gt;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SomeIPDiagnosticsSuite.exe analyze &lt;capture&gt;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--report out.html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--json   out.json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--strict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931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D180"/>
                </a:solidFill>
                <a:latin typeface="Segoe UI"/>
              </a:rPr>
              <a:t>Flags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4343400"/>
            <a:ext cx="5120640" cy="502920"/>
          </a:xfrm>
          <a:prstGeom prst="roundRect">
            <a:avLst>
              <a:gd name="adj" fmla="val 15000"/>
            </a:avLst>
          </a:prstGeom>
          <a:solidFill>
            <a:srgbClr val="1A1A1F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462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Consolas"/>
              </a:rPr>
              <a:t>--report  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462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Segoe UI"/>
              </a:rPr>
              <a:t>Self-contained HTML report (same as GUI export).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37760"/>
            <a:ext cx="5120640" cy="502920"/>
          </a:xfrm>
          <a:prstGeom prst="roundRect">
            <a:avLst>
              <a:gd name="adj" fmla="val 15000"/>
            </a:avLst>
          </a:prstGeom>
          <a:solidFill>
            <a:srgbClr val="1A1A1F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50566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Consolas"/>
              </a:rPr>
              <a:t>--json   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056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Segoe UI"/>
              </a:rPr>
              <a:t>Machine-readable summary for CI dashboards.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5532120"/>
            <a:ext cx="5120640" cy="502920"/>
          </a:xfrm>
          <a:prstGeom prst="roundRect">
            <a:avLst>
              <a:gd name="adj" fmla="val 15000"/>
            </a:avLst>
          </a:prstGeom>
          <a:solidFill>
            <a:srgbClr val="1A1A1F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56509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Consolas"/>
              </a:rPr>
              <a:t>--strict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650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6E6"/>
                </a:solidFill>
                <a:latin typeface="Segoe UI"/>
              </a:rPr>
              <a:t>Exit code 2 on any SD timing violation.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Bundled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Deterministic, realistically large capture — reproducible everywhere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1A1A1F"/>
          </a:solidFill>
          <a:ln w="1270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80D8FF"/>
                </a:solidFill>
                <a:latin typeface="Segoe UI"/>
              </a:rPr>
              <a:t>1.1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  <a:latin typeface="Segoe UI"/>
              </a:rPr>
              <a:t>Capture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1A1A1F"/>
          </a:solidFill>
          <a:ln w="1270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80D8FF"/>
                </a:solidFill>
                <a:latin typeface="Segoe UI"/>
              </a:rPr>
              <a:t>≈13 000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60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  <a:latin typeface="Segoe UI"/>
              </a:rPr>
              <a:t>Frames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1A1A1F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6596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D180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60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  <a:latin typeface="Segoe UI"/>
              </a:rPr>
              <a:t>ECUs (1 faulty)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1A1A1F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6596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D180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  <a:latin typeface="Segoe UI"/>
              </a:rPr>
              <a:t>DoIP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0D8FF"/>
                </a:solidFill>
                <a:latin typeface="Segoe UI"/>
              </a:rPr>
              <a:t>SOME/IP-SD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66160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6 well-behaved ECUs (10.0.0.10 … 10.0.0.15).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1 misbehaving ECU (10.0.0.99, service 0x9999) — missing exponential back-off.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FindService probes from head-unit 10.0.0.50.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SubscribeEventgroup from consumers 10.0.0.60 / 61.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D180"/>
                </a:solidFill>
                <a:latin typeface="Segoe UI"/>
              </a:rPr>
              <a:t>DoIP / UDS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661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500× TesterPresent — RTT statistics.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3 000× ReadDataByIdentifier with ~8 % NRC 0x31.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RoutineControl with 3× response-pending (NRC 0x78).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RoutingActivation rejected → tester reconnects with valid SA.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RDBI with no ack → application-level retransmit.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Reviewing the HTML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Self-contained file — no JavaScript, safe to e-mail or attach to a PR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tml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7132320" cy="38024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7830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0D8FF"/>
                </a:solidFill>
                <a:latin typeface="Segoe UI"/>
              </a:rPr>
              <a:t>Report sections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94560"/>
            <a:ext cx="3931920" cy="594360"/>
          </a:xfrm>
          <a:prstGeom prst="roundRect">
            <a:avLst>
              <a:gd name="adj" fmla="val 15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23317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0D8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2240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6E6"/>
                </a:solidFill>
                <a:latin typeface="Segoe UI"/>
              </a:rPr>
              <a:t>Capture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487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Per-protocol message 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880360"/>
            <a:ext cx="3931920" cy="594360"/>
          </a:xfrm>
          <a:prstGeom prst="roundRect">
            <a:avLst>
              <a:gd name="adj" fmla="val 15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30175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0D8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6E6"/>
                </a:solidFill>
                <a:latin typeface="Segoe UI"/>
              </a:rPr>
              <a:t>SD KPI strip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3172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Violations are the headline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566160"/>
            <a:ext cx="3931920" cy="594360"/>
          </a:xfrm>
          <a:prstGeom prst="roundRect">
            <a:avLst>
              <a:gd name="adj" fmla="val 15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39" y="37033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0D8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6E6"/>
                </a:solidFill>
                <a:latin typeface="Segoe UI"/>
              </a:rPr>
              <a:t>Per-ECU ×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3858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Recovered timing constants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4251960"/>
            <a:ext cx="3931920" cy="594360"/>
          </a:xfrm>
          <a:prstGeom prst="roundRect">
            <a:avLst>
              <a:gd name="adj" fmla="val 15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39" y="43891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0D8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6E6"/>
                </a:solidFill>
                <a:latin typeface="Segoe UI"/>
              </a:rPr>
              <a:t>SD violations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5445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ECU, service, frame, detail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937760"/>
            <a:ext cx="3931920" cy="594360"/>
          </a:xfrm>
          <a:prstGeom prst="roundRect">
            <a:avLst>
              <a:gd name="adj" fmla="val 15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50749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0D8FF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6E6"/>
                </a:solidFill>
                <a:latin typeface="Segoe UI"/>
              </a:rPr>
              <a:t>DoIP sessions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5230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Routing, RA latency, RTT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5623560"/>
            <a:ext cx="3931920" cy="594360"/>
          </a:xfrm>
          <a:prstGeom prst="roundRect">
            <a:avLst>
              <a:gd name="adj" fmla="val 15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39" y="57607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80D8FF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6E6"/>
                </a:solidFill>
                <a:latin typeface="Segoe UI"/>
              </a:rPr>
              <a:t>Per-session UDS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59" y="5916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Red = NRC, yellow = retx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Pass Criteria — Golden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Deterministic capture ⇒ byte-identical KPIs on every machine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utput-review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55680" cy="42391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498348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11131A"/>
          </a:solidFill>
          <a:ln w="1270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93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5D6A7"/>
                </a:solidFill>
                <a:latin typeface="Segoe UI"/>
              </a:rPr>
              <a:t>Healthy stdout (always identical):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67528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analysed 12,575 messages from 12,894 frames in ~200 ms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SD:   ECUs=10  services=7  offers=1835  finds=2  violations=1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DoIP: sessions=6  reconnects=0  uds=3505  NRCs=254  retx=2  avg_rtt_ms=3.328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Continuous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From a developer's desk to every pull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Segoe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6"/>
                </a:solidFill>
                <a:latin typeface="Segoe UI"/>
              </a:rPr>
              <a:t>Run — Invoke SomeIPDiagnosticsSuite.exe analyze with --strict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15768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Segoe U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6"/>
                </a:solidFill>
                <a:latin typeface="Segoe UI"/>
              </a:rPr>
              <a:t>Gate — Exit code 2 fails the job on any SD timing violation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02736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9417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Segoe U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6"/>
                </a:solidFill>
                <a:latin typeface="Segoe UI"/>
              </a:rPr>
              <a:t>Publish — Upload report.html + summary.json as artefacts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9704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11131A"/>
          </a:solidFill>
          <a:ln w="1270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811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D180"/>
                </a:solidFill>
                <a:latin typeface="Segoe U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9744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6E6"/>
                </a:solidFill>
                <a:latin typeface="Segoe UI"/>
              </a:rPr>
              <a:t>Trend — Feed JSON KPIs into Grafana / Splunk / Excel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0D8FF"/>
                </a:solidFill>
                <a:latin typeface="Segoe UI"/>
              </a:rPr>
              <a:t>Example: GitHub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19456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- name: SOME/IP diagnostics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run: |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SomeIPDiagnosticsSuite.exe analyze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 captures/run.pcap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 --report report.html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 --json   summary.json \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  --strict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- name: Upload diagnostics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if: always()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uses: actions/upload-artifact@v4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with: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name: someip-report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path: |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report.html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      summary.json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Outcomes &amp;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What changes for engineers, QA and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1397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0D8FF"/>
                </a:solidFill>
                <a:latin typeface="Segoe UI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574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Faster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Boot timing violations caught in seconds with offending frame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1397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80D8FF"/>
                </a:solidFill>
                <a:latin typeface="Segoe UI"/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574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Better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Every NRC, retransmit and reconnect tabulated per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82880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1397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D180"/>
                </a:solidFill>
                <a:latin typeface="Segoe UI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574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D180"/>
                </a:solidFill>
                <a:latin typeface="Segoe UI"/>
              </a:rPr>
              <a:t>Reproducibility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974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Deterministic test data → identical KPIs on every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1397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D180"/>
                </a:solidFill>
                <a:latin typeface="Segoe UI"/>
              </a:rPr>
              <a:t>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D180"/>
                </a:solidFill>
                <a:latin typeface="Segoe UI"/>
              </a:rPr>
              <a:t>CI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--strict turns the tool into a build gate, no licence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3192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1397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5D6A7"/>
                </a:solidFill>
                <a:latin typeface="Segoe UI"/>
              </a:rPr>
              <a:t>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5D6A7"/>
                </a:solidFill>
                <a:latin typeface="Segoe UI"/>
              </a:rPr>
              <a:t>Shareable artefact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60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Single self-contained HTML report — attach to Jira / PR / e-mail.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93192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1131A"/>
          </a:solidFill>
          <a:ln w="1397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0690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A5D6A7"/>
                </a:solidFill>
                <a:latin typeface="Segoe UI"/>
              </a:rP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60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5D6A7"/>
                </a:solidFill>
                <a:latin typeface="Segoe UI"/>
              </a:rPr>
              <a:t>Zero licensing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80060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Segoe UI"/>
              </a:rPr>
              <a:t>MIT-friendly, pure stdlib — runs on every laptop and runner.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0D8FF"/>
                </a:solidFill>
                <a:latin typeface="Segoe UI"/>
              </a:rPr>
              <a:t>SOME/IP DIAGNOSTICS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6E6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  <a:latin typeface="Segoe UI"/>
              </a:rPr>
              <a:t>What landed in v2 — and what is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9525"/>
          </a:xfrm>
          <a:prstGeom prst="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749039" cy="4297680"/>
          </a:xfrm>
          <a:prstGeom prst="roundRect">
            <a:avLst>
              <a:gd name="adj" fmla="val 6000"/>
            </a:avLst>
          </a:prstGeom>
          <a:solidFill>
            <a:srgbClr val="11131A"/>
          </a:solidFill>
          <a:ln w="13970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A5D6A7"/>
          </a:solidFill>
          <a:ln w="9525">
            <a:solidFill>
              <a:srgbClr val="A5D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0B10"/>
                </a:solidFill>
                <a:latin typeface="Segoe UI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A5D6A7"/>
                </a:solidFill>
                <a:latin typeface="Segoe UI"/>
              </a:rPr>
              <a:t>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32918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5D6A7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Tkinter GUI scaffolding.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5D6A7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Synthetic SOME/IP-SD generator.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5D6A7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DoIP demo + filter engine prototype.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828800"/>
            <a:ext cx="3749039" cy="4297680"/>
          </a:xfrm>
          <a:prstGeom prst="roundRect">
            <a:avLst>
              <a:gd name="adj" fmla="val 6000"/>
            </a:avLst>
          </a:prstGeom>
          <a:solidFill>
            <a:srgbClr val="11131A"/>
          </a:solidFill>
          <a:ln w="13970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19" y="20574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80D8FF"/>
          </a:solidFill>
          <a:ln w="9525">
            <a:solidFill>
              <a:srgbClr val="80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19" y="207568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0B10"/>
                </a:solidFill>
                <a:latin typeface="Segoe UI"/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20756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80D8FF"/>
                </a:solidFill>
                <a:latin typeface="Segoe UI"/>
              </a:rPr>
              <a:t>Real 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697480"/>
            <a:ext cx="32918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Real .pcap / .pcapng ingestion.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AUTOSAR PRS R21-11 violation engine.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ISO 13400-2 session reconstructor.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CLI sub-commands + --strict.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Single-file Windows .exe + CI workflow.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80D8FF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Deterministic test data + golden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8" y="1828800"/>
            <a:ext cx="3749039" cy="4297680"/>
          </a:xfrm>
          <a:prstGeom prst="roundRect">
            <a:avLst>
              <a:gd name="adj" fmla="val 6000"/>
            </a:avLst>
          </a:prstGeom>
          <a:solidFill>
            <a:srgbClr val="11131A"/>
          </a:solidFill>
          <a:ln w="13970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18" y="20574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D180"/>
          </a:solidFill>
          <a:ln w="9525">
            <a:solidFill>
              <a:srgbClr val="FFD1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8" y="207568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A0B10"/>
                </a:solidFill>
                <a:latin typeface="Segoe U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8" y="20756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D180"/>
                </a:solidFill>
                <a:latin typeface="Segoe UI"/>
              </a:rPr>
              <a:t>Where we 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38" y="2697480"/>
            <a:ext cx="32918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PCAPng nanosecond timestamps.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SOME/IP-TP (segmentation) decoder.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Per-VLAN filtering &amp; IPv6 hardening.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Trend dashboard template (Grafana).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80"/>
                </a:solidFill>
                <a:latin typeface="Segoe UI"/>
              </a:rPr>
              <a:t>▸  </a:t>
            </a:r>
            <a:r>
              <a:rPr sz="1100">
                <a:solidFill>
                  <a:srgbClr val="E6E6E6"/>
                </a:solidFill>
                <a:latin typeface="Segoe UI"/>
              </a:rPr>
              <a:t>Optional Linux &amp; macOS binaries.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Segoe UI"/>
              </a:rPr>
              <a:t>SOME/IP Diagnostics Suite  ·  Project Overview Deck  ·  v2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0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0D8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E6E6E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D180"/>
                </a:solidFill>
                <a:latin typeface="Segoe UI"/>
              </a:rPr>
              <a:t>SOME/IP Diagnostics Suite — turning Ethernet captures into actionable, shareable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40"/>
            <a:ext cx="11155680" cy="2560320"/>
          </a:xfrm>
          <a:prstGeom prst="roundRect">
            <a:avLst>
              <a:gd name="adj" fmla="val 4000"/>
            </a:avLst>
          </a:prstGeom>
          <a:solidFill>
            <a:srgbClr val="11131A"/>
          </a:solidFill>
          <a:ln w="9525">
            <a:solidFill>
              <a:srgbClr val="2A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0D8FF"/>
                </a:solidFill>
                <a:latin typeface="Segoe UI"/>
              </a:rPr>
              <a:t>Where to go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Binary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84048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SomeIPDiagnosticsSuite.exe (repo root)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Tool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20624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docs/TOOL_GUIDE.md — capabilities, problem, solution,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Test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57200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docs/TEST_DATA_GUIDE.md — using the bundled pcap &amp; reading the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User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93776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docs/USER_GUIDE.md — install, GUI tour, CLI, troubleshooting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180"/>
                </a:solidFill>
                <a:latin typeface="Segoe UI"/>
              </a:rPr>
              <a:t>Test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0352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</a:rPr>
              <a:t>testdata/large_realistic.pcap · sample_report.html · sample_summary.json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  <a:latin typeface="Segoe UI"/>
              </a:rPr>
              <a:t>Repository: github.com/Nag12211221/Some-IP-Stand-alone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